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07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2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 –  THE BUSINESS ENVIRONMENT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187452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Certificate: Business Administration Services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13232" y="3246120"/>
            <a:ext cx="1828800" cy="0"/>
          </a:xfrm>
          <a:prstGeom prst="line">
            <a:avLst/>
          </a:prstGeom>
          <a:noFill/>
          <a:ln w="28575">
            <a:solidFill>
              <a:srgbClr val="9DA8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713232" y="35661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SAQA ID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0" y="35661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67465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39684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NQF LEVEL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39684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(Credits 120 – full qualification)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43708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STANDARDS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0" y="437083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145357, 7785, 7796</a:t>
            </a:r>
            <a:endParaRPr lang="en-US" sz="1250" dirty="0"/>
          </a:p>
        </p:txBody>
      </p:sp>
      <p:pic>
        <p:nvPicPr>
          <p:cNvPr id="12" name="Image 1" descr="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24732"/>
            <a:ext cx="1097280" cy="7760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PURPOSEFULLY UNIQUE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Environment – Purpose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18288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789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the unit standards contained in this batch is to lead the learner to a greater understanding of the South African business environment. As the South African economy evolves through digitalisation, green economy initiatives and post-pandemic recovery, this guide provides you with current trends together with foundational business knowledge.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BATCH, YOU WILL GAIN COMPETENCE IN: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3611880" cy="242316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851660" y="4160520"/>
            <a:ext cx="822960" cy="822960"/>
          </a:xfrm>
          <a:prstGeom prst="ellipse">
            <a:avLst/>
          </a:prstGeom>
          <a:solidFill>
            <a:srgbClr val="9DA82E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630" y="4374490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51206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145357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5486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an understanding of a selected business environment.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70248" y="3886200"/>
            <a:ext cx="3611880" cy="242316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5664708" y="4160520"/>
            <a:ext cx="822960" cy="822960"/>
          </a:xfrm>
          <a:prstGeom prst="ellipse">
            <a:avLst/>
          </a:prstGeom>
          <a:solidFill>
            <a:srgbClr val="9DA82E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437449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70248" y="51206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7785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98848" y="5486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effectively in a business environment.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83296" y="3886200"/>
            <a:ext cx="3611880" cy="242316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9477756" y="4160520"/>
            <a:ext cx="822960" cy="822960"/>
          </a:xfrm>
          <a:prstGeom prst="ellipse">
            <a:avLst/>
          </a:prstGeom>
          <a:solidFill>
            <a:srgbClr val="9DA82E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726" y="437449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83296" y="51206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7796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11896" y="5486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secure working environment.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(CORE)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Environment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1737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8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the Business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8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in a Business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8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a Secure Working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5532120" cy="2743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685800" y="3474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KEYS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51206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Keys to Workplace Improvement, developed by Professor Iwao Kobayashi, have been incorporated in the content and provide a structured approach to improving efficiency, quality and working conditions across its focus areas.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9632" y="3337560"/>
            <a:ext cx="5532120" cy="274320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6428232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50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TRENDS IMPACTING THE BUSINESS LANDSCAPE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28232" y="397764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and AI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Economy and sustainability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hybrid work models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Economy and B-BBEE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and Data Protection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145357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 Selected Business Environment – Learning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34924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structure and roles of different types of organisations in South Africa.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34924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63640" y="2834640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market concepts.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534924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85800" y="5669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6355080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role of professional bodies.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5440680"/>
            <a:ext cx="534924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263640" y="5669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6355080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market position using current data and digital tools.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and Roles of Different Types of Organisations in 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9445752" cy="105156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645920" y="26060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54" y="27605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23774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is an organisation that produces and sells goods and services to consumers.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3657600"/>
            <a:ext cx="9445752" cy="11887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1645920" y="3931920"/>
            <a:ext cx="594360" cy="594360"/>
          </a:xfrm>
          <a:prstGeom prst="ellipse">
            <a:avLst/>
          </a:prstGeom>
          <a:solidFill>
            <a:srgbClr val="9DA82E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454" y="4086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36576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operate in a mixed economy in South Africa — combining free-market principles with government regulations.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Business Sector Types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3886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Privately owned businesses operating for profit.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institutions and state-owned enterprises (SOEs) such as Eskom and Transnet.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Registered, regulated businesses complying with South African laws.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Unregistered businesses and sole traders not captured in the formal sector.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Environments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 operates across three interconnected environments: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11880" cy="38404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89738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26590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37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Environment (Internal)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Management, employees, resources, digital tools, remote working policies, etc.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88536" y="2194560"/>
            <a:ext cx="3611880" cy="38404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5728716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911" y="26590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3337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Environment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62856" y="41148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suppliers, intermediaries, competitors.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194560"/>
            <a:ext cx="3611880" cy="38404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9560052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0247" y="26590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3337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Environment (External)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94192" y="41148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Political, economic, social, technological, legal and environmental.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Business Organisations in South Africa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783080" y="20299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1" y="21963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Proprietorship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0" y="18288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5074920" y="20299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41" y="219638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132320" y="18288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9"/>
          <p:cNvSpPr/>
          <p:nvPr/>
        </p:nvSpPr>
        <p:spPr>
          <a:xfrm>
            <a:off x="8366760" y="20299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2196389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Company (Pty) Ltd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6576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2"/>
          <p:cNvSpPr/>
          <p:nvPr/>
        </p:nvSpPr>
        <p:spPr>
          <a:xfrm>
            <a:off x="1783080" y="38587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1" y="4025189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" y="4572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Company (Ltd)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840480" y="36576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5"/>
          <p:cNvSpPr/>
          <p:nvPr/>
        </p:nvSpPr>
        <p:spPr>
          <a:xfrm>
            <a:off x="5074920" y="38587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41" y="4025189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4572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Corporation (CC)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132320" y="36576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18"/>
          <p:cNvSpPr/>
          <p:nvPr/>
        </p:nvSpPr>
        <p:spPr>
          <a:xfrm>
            <a:off x="8366760" y="38587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4025189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4572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Organisation (NPO)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5486400"/>
            <a:ext cx="3108960" cy="16002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1"/>
          <p:cNvSpPr/>
          <p:nvPr/>
        </p:nvSpPr>
        <p:spPr>
          <a:xfrm>
            <a:off x="1783080" y="56875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1" y="5853989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5800" y="6400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Entities (SOEs)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Business Activities Across All Sectors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activities across all businesses: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440180" y="2350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01" y="251642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08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9544" y="214884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4192524" y="2350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945" y="2516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3108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61888" y="214884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6944868" y="2350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89" y="251642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9048" y="3108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714232" y="214884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3"/>
          <p:cNvSpPr/>
          <p:nvPr/>
        </p:nvSpPr>
        <p:spPr>
          <a:xfrm>
            <a:off x="9697212" y="2350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633" y="251642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51392" y="31089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Responsibility (CSI/ESG)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429768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16"/>
          <p:cNvSpPr/>
          <p:nvPr/>
        </p:nvSpPr>
        <p:spPr>
          <a:xfrm>
            <a:off x="1440180" y="44988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6601" y="4665269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" y="5257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Well-Being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209544" y="429768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19"/>
          <p:cNvSpPr/>
          <p:nvPr/>
        </p:nvSpPr>
        <p:spPr>
          <a:xfrm>
            <a:off x="4192524" y="44988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8945" y="466526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346704" y="5257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Service Quality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961888" y="4297680"/>
            <a:ext cx="2606040" cy="1920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2"/>
          <p:cNvSpPr/>
          <p:nvPr/>
        </p:nvSpPr>
        <p:spPr>
          <a:xfrm>
            <a:off x="6944868" y="44988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1289" y="4665269"/>
            <a:ext cx="307238" cy="30723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099048" y="5257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Excellence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Sub-Sectors in South Africa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Financial Services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19272" y="173736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533" y="21323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Wholesale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35624" y="173736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9"/>
          <p:cNvSpPr/>
          <p:nvPr/>
        </p:nvSpPr>
        <p:spPr>
          <a:xfrm>
            <a:off x="7141464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85" y="21323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2784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Communications Technology (ICT)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51976" y="173736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2"/>
          <p:cNvSpPr/>
          <p:nvPr/>
        </p:nvSpPr>
        <p:spPr>
          <a:xfrm>
            <a:off x="9957816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37" y="21323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9136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411480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5"/>
          <p:cNvSpPr/>
          <p:nvPr/>
        </p:nvSpPr>
        <p:spPr>
          <a:xfrm>
            <a:off x="150876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81" y="450982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Pharmaceuticals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319272" y="411480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18"/>
          <p:cNvSpPr/>
          <p:nvPr/>
        </p:nvSpPr>
        <p:spPr>
          <a:xfrm>
            <a:off x="4325112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533" y="450982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432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&amp; Hospitality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135624" y="411480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1"/>
          <p:cNvSpPr/>
          <p:nvPr/>
        </p:nvSpPr>
        <p:spPr>
          <a:xfrm>
            <a:off x="7141464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85" y="4509821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72784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Automotive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8951976" y="4114800"/>
            <a:ext cx="2651760" cy="2148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3" name="Shape 24"/>
          <p:cNvSpPr/>
          <p:nvPr/>
        </p:nvSpPr>
        <p:spPr>
          <a:xfrm>
            <a:off x="9957816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37" y="4509821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89136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Agri-Processing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of a Market as Applied to a Business Sector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is: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56692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people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56692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similar needs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56692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exchange something of value with sellers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56692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(e.g. a shopping centre) or virtual (an online marketplace)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68580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markets combine both physical and virtual presence.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Mix (7Ps)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536192" cy="34747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905256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2589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084832" y="2103120"/>
            <a:ext cx="1536192" cy="3474720"/>
          </a:xfrm>
          <a:prstGeom prst="rect">
            <a:avLst/>
          </a:prstGeom>
          <a:solidFill>
            <a:srgbClr val="7C8524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2532888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309" y="25895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76272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712464" y="2103120"/>
            <a:ext cx="1536192" cy="34747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9"/>
          <p:cNvSpPr/>
          <p:nvPr/>
        </p:nvSpPr>
        <p:spPr>
          <a:xfrm>
            <a:off x="416052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25895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03904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340096" y="2103120"/>
            <a:ext cx="1536192" cy="3474720"/>
          </a:xfrm>
          <a:prstGeom prst="rect">
            <a:avLst/>
          </a:prstGeom>
          <a:solidFill>
            <a:srgbClr val="7C8524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2"/>
          <p:cNvSpPr/>
          <p:nvPr/>
        </p:nvSpPr>
        <p:spPr>
          <a:xfrm>
            <a:off x="5788152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573" y="25895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31536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967728" y="2103120"/>
            <a:ext cx="1536192" cy="34747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5"/>
          <p:cNvSpPr/>
          <p:nvPr/>
        </p:nvSpPr>
        <p:spPr>
          <a:xfrm>
            <a:off x="7415784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205" y="258958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59168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Evidence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595360" y="2103120"/>
            <a:ext cx="1536192" cy="3474720"/>
          </a:xfrm>
          <a:prstGeom prst="rect">
            <a:avLst/>
          </a:prstGeom>
          <a:solidFill>
            <a:srgbClr val="7C8524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18"/>
          <p:cNvSpPr/>
          <p:nvPr/>
        </p:nvSpPr>
        <p:spPr>
          <a:xfrm>
            <a:off x="9043416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9837" y="258958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10222992" y="2103120"/>
            <a:ext cx="1536192" cy="34747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1"/>
          <p:cNvSpPr/>
          <p:nvPr/>
        </p:nvSpPr>
        <p:spPr>
          <a:xfrm>
            <a:off x="10671048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7469" y="2589581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14432" y="3246120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 Between Products and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41148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before sale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can be standardised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products (IoT devices)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94960" cy="411480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stored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depending on who delivers the service and when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personalisation through AI and data analytics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Wholesale and Retail Sector in the SA Economy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933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Wholesale and Retail (W&amp;R) sector is one of South Africa's largest employers.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658368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249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5146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SA's formal retail sector generates an estimated R1 trillion in annual turnover.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9"/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564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24612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grew from 2% to approximately 6% of total retail by 2024.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97764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2"/>
          <p:cNvSpPr/>
          <p:nvPr/>
        </p:nvSpPr>
        <p:spPr>
          <a:xfrm>
            <a:off x="658368" y="4069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8795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97764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 retail sector serves over 50 million consumers.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470916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5"/>
          <p:cNvSpPr/>
          <p:nvPr/>
        </p:nvSpPr>
        <p:spPr>
          <a:xfrm>
            <a:off x="658368" y="4800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1947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70916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Township retail is a growing focus area.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57200" y="5440680"/>
            <a:ext cx="11274552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18"/>
          <p:cNvSpPr/>
          <p:nvPr/>
        </p:nvSpPr>
        <p:spPr>
          <a:xfrm>
            <a:off x="658368" y="5532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509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80160" y="544068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innovation includes self-checkout and AI-powered inventory management.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Chain in the Digital 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all the activities an organisation does to deliver a product or service to the market.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ACTIVITIES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148840" cy="173736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Logistics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97480" y="2423160"/>
            <a:ext cx="2148840" cy="173736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788920" y="256032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2423160"/>
            <a:ext cx="2148840" cy="173736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Logistics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8040" y="2423160"/>
            <a:ext cx="2148840" cy="173736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269480" y="256032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0" y="2423160"/>
            <a:ext cx="2148840" cy="173736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509760" y="256032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ACTIVITIES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657600" cy="1280160"/>
          </a:xfrm>
          <a:prstGeom prst="rect">
            <a:avLst/>
          </a:prstGeom>
          <a:solidFill>
            <a:srgbClr val="7C85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61104" y="4754880"/>
            <a:ext cx="3657600" cy="1280160"/>
          </a:xfrm>
          <a:prstGeom prst="rect">
            <a:avLst/>
          </a:prstGeom>
          <a:solidFill>
            <a:srgbClr val="7C85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352544" y="4754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Development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5008" y="4754880"/>
            <a:ext cx="3657600" cy="1280160"/>
          </a:xfrm>
          <a:prstGeom prst="rect">
            <a:avLst/>
          </a:prstGeom>
          <a:solidFill>
            <a:srgbClr val="7C85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156448" y="4754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Professional Bodies in a Selected Business Sector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bodies and regulatory authorities play a critical role in: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11880" cy="20116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897380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2841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66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standards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70248" y="2377440"/>
            <a:ext cx="3611880" cy="20116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5710428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623" y="28419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3566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consumers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83296" y="2377440"/>
            <a:ext cx="3611880" cy="201168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9523476" y="26517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671" y="284195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6176" y="35661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professional workforce in SA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57200" y="4709160"/>
            <a:ext cx="11274552" cy="86868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3"/>
          <p:cNvSpPr/>
          <p:nvPr/>
        </p:nvSpPr>
        <p:spPr>
          <a:xfrm>
            <a:off x="685800" y="47091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professional bodies is key for navigating your career and business environment.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– 1.3.2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Bodies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PROFESSIONAL BODIES EXIST?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enforce ethical standards within a profession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 and recognise qualifications and competencies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consumers from unqualified or unethical practitioners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for the interests of the profession with government and regulators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continuous professional development (CPD) and lifelong learning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professionals through networking and knowledge sharing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468112" cy="470916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PROFESSIONAL BODIES AND REGULATORY AUTHORITIES IN 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Institute for Chartered Accountants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Board for People Practices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IT Professionals SA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Council of SA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and Intellectual Property Commission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Sector Conduct Authority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Revenue Service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Higher Education &amp; Training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W&amp;R SETA</a:t>
            </a:r>
            <a:endParaRPr lang="en-US" sz="1030" dirty="0"/>
          </a:p>
          <a:p>
            <a:pPr marL="342900" indent="-342900">
              <a:lnSpc>
                <a:spcPct val="108000"/>
              </a:lnSpc>
              <a:spcAft>
                <a:spcPts val="5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Information Regulator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– 1.4.4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Analysis and SWOT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2286000"/>
          </a:xfrm>
          <a:prstGeom prst="rect">
            <a:avLst/>
          </a:prstGeom>
          <a:solidFill>
            <a:srgbClr val="7C8524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26590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(Internal)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unique in your organisation?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440680" cy="228600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40080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6590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(Internal)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5603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you improve?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206240"/>
            <a:ext cx="5440680" cy="2286000"/>
          </a:xfrm>
          <a:prstGeom prst="rect">
            <a:avLst/>
          </a:prstGeom>
          <a:solidFill>
            <a:srgbClr val="7C8524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731520" y="49834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" y="51736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26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(External)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50749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trends can you exploit?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4206240"/>
            <a:ext cx="5440680" cy="228600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6400800" y="49834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51736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526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(External)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50749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external threats exist?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7785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a Business Environment – Learning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strategies for maintaining office equipment.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0832" y="2286000"/>
            <a:ext cx="356616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99432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99432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 responsibilities using digital and physical tools.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93024" y="2286000"/>
            <a:ext cx="3566160" cy="32918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421624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21624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tasks in hybrid/remote work contexts.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Strategy for Maintaining Office Equipment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OFFICE EQUIPMENT LANDSCAPE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40080" y="20436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2157801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computers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0" y="19659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20436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597" y="215780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1965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&amp; cloud-connected devices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6517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640080" y="27294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2843601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651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Landline telephones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0" y="2651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26480" y="27294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597" y="2843601"/>
            <a:ext cx="210678" cy="2106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2651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phones, video/Teams calls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33375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16"/>
          <p:cNvSpPr/>
          <p:nvPr/>
        </p:nvSpPr>
        <p:spPr>
          <a:xfrm>
            <a:off x="640080" y="34152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97" y="3529401"/>
            <a:ext cx="210678" cy="2106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3375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filing cabinets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0" y="3337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126480" y="34152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597" y="3529401"/>
            <a:ext cx="210678" cy="2106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0840" y="3337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2"/>
          <p:cNvSpPr/>
          <p:nvPr/>
        </p:nvSpPr>
        <p:spPr>
          <a:xfrm>
            <a:off x="640080" y="41010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197" y="4215201"/>
            <a:ext cx="210678" cy="21067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34440" y="4023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and photocopiers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486400" y="4023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6126480" y="41010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597" y="4215201"/>
            <a:ext cx="210678" cy="21067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20840" y="4023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Multi-function printers, scan-to-email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457200" y="47091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Shape 28"/>
          <p:cNvSpPr/>
          <p:nvPr/>
        </p:nvSpPr>
        <p:spPr>
          <a:xfrm>
            <a:off x="640080" y="47868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197" y="4901001"/>
            <a:ext cx="210678" cy="21067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234440" y="47091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machines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5486400" y="4709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31"/>
          <p:cNvSpPr/>
          <p:nvPr/>
        </p:nvSpPr>
        <p:spPr>
          <a:xfrm>
            <a:off x="6126480" y="47868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0597" y="4901001"/>
            <a:ext cx="210678" cy="21067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720840" y="47091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email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457200" y="5394960"/>
            <a:ext cx="11274552" cy="5943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Shape 34"/>
          <p:cNvSpPr/>
          <p:nvPr/>
        </p:nvSpPr>
        <p:spPr>
          <a:xfrm>
            <a:off x="640080" y="54726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197" y="5586801"/>
            <a:ext cx="210678" cy="21067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234440" y="5394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notice boards</a:t>
            </a:r>
            <a:endParaRPr lang="en-US" sz="1150" dirty="0"/>
          </a:p>
        </p:txBody>
      </p:sp>
      <p:sp>
        <p:nvSpPr>
          <p:cNvPr id="49" name="Text 36"/>
          <p:cNvSpPr/>
          <p:nvPr/>
        </p:nvSpPr>
        <p:spPr>
          <a:xfrm>
            <a:off x="5486400" y="53949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37"/>
          <p:cNvSpPr/>
          <p:nvPr/>
        </p:nvSpPr>
        <p:spPr>
          <a:xfrm>
            <a:off x="6126480" y="54726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0597" y="5586801"/>
            <a:ext cx="210678" cy="21067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72084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workplace platforms / Teams</a:t>
            </a:r>
            <a:endParaRPr lang="en-US" sz="1150" dirty="0"/>
          </a:p>
        </p:txBody>
      </p:sp>
      <p:sp>
        <p:nvSpPr>
          <p:cNvPr id="53" name="Text 39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4" name="Text 4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Principles for the General Operation of Electrical Equipment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equipment must be operated in terms of the OHS Act 85 of 1993.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2335378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1945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damaged or defective equipment — report it immediately to your supervisor.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0" y="2240280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8" y="233537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21945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overload electrical outlets or use extension cords as permanent wiring solutions.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57200" y="4325112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4420210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4279392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electrical equipment is earthed and surge-protected.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6217920" y="4325112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8" y="4420210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4279392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and unplug equipment when not in use or when cleaning.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457200" y="6409944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6505042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6364224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liquids away from all electrical equipment.</a:t>
            </a:r>
            <a:endParaRPr lang="en-US" sz="1080" dirty="0"/>
          </a:p>
        </p:txBody>
      </p:sp>
      <p:sp>
        <p:nvSpPr>
          <p:cNvPr id="21" name="Shape 14"/>
          <p:cNvSpPr/>
          <p:nvPr/>
        </p:nvSpPr>
        <p:spPr>
          <a:xfrm>
            <a:off x="6217920" y="6409944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8" y="6505042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75120" y="6364224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trained electricians may open, repair, or modify electrical equipment.</a:t>
            </a:r>
            <a:endParaRPr lang="en-US" sz="1080" dirty="0"/>
          </a:p>
        </p:txBody>
      </p:sp>
      <p:sp>
        <p:nvSpPr>
          <p:cNvPr id="24" name="Shape 16"/>
          <p:cNvSpPr/>
          <p:nvPr/>
        </p:nvSpPr>
        <p:spPr>
          <a:xfrm>
            <a:off x="457200" y="8494776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8589874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4400" y="8449056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circuit breakers and emergency shut-off switches.</a:t>
            </a:r>
            <a:endParaRPr lang="en-US" sz="1080" dirty="0"/>
          </a:p>
        </p:txBody>
      </p:sp>
      <p:sp>
        <p:nvSpPr>
          <p:cNvPr id="27" name="Shape 18"/>
          <p:cNvSpPr/>
          <p:nvPr/>
        </p:nvSpPr>
        <p:spPr>
          <a:xfrm>
            <a:off x="6217920" y="8494776"/>
            <a:ext cx="365760" cy="365760"/>
          </a:xfrm>
          <a:prstGeom prst="ellipse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8" y="8589874"/>
            <a:ext cx="175565" cy="17556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675120" y="8449056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tag out faulty equipment immediately with a 'Do Not Use' label.</a:t>
            </a:r>
            <a:endParaRPr lang="en-US" sz="1080" dirty="0"/>
          </a:p>
        </p:txBody>
      </p:sp>
      <p:sp>
        <p:nvSpPr>
          <p:cNvPr id="30" name="Text 20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2.1.5 – 2.1.6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in the Modern Office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current with technology is essential for career success. Employees are expected to be competent in: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94360" y="225856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" y="2372685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14884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productivity tools (Microsoft 365, Google Workspace)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214884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263640" y="225856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57" y="2372685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214884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platforms (Zoom, Microsoft Teams, Google Meet)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594360" y="30358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77" y="3149925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92608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tools (Slack, WhatsApp Business, email management)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26480" y="292608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3"/>
          <p:cNvSpPr/>
          <p:nvPr/>
        </p:nvSpPr>
        <p:spPr>
          <a:xfrm>
            <a:off x="6263640" y="30358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757" y="3149925"/>
            <a:ext cx="210678" cy="2106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292608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cybersecurity practices (password management, phishing awareness, data backup)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70332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16"/>
          <p:cNvSpPr/>
          <p:nvPr/>
        </p:nvSpPr>
        <p:spPr>
          <a:xfrm>
            <a:off x="594360" y="38130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77" y="3927165"/>
            <a:ext cx="210678" cy="2106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70332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filing and document management systems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26480" y="370332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19"/>
          <p:cNvSpPr/>
          <p:nvPr/>
        </p:nvSpPr>
        <p:spPr>
          <a:xfrm>
            <a:off x="6263640" y="38130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757" y="3927165"/>
            <a:ext cx="210678" cy="2106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370332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entry and spreadsheet skills (Excel, Google Sheets)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57200" y="4480560"/>
            <a:ext cx="5440680" cy="658368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2"/>
          <p:cNvSpPr/>
          <p:nvPr/>
        </p:nvSpPr>
        <p:spPr>
          <a:xfrm>
            <a:off x="594360" y="45902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77" y="4704405"/>
            <a:ext cx="210678" cy="21067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43000" y="448056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 (CRM) tools (basic level)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Responsibilities in Accordance with Organisational Requirements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 DIVERSITY &amp; INCLUSIVITY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438912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21792" y="2258568"/>
            <a:ext cx="3328416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9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cultural, religious, linguistic, and personal differences.</a:t>
            </a:r>
            <a:endParaRPr lang="en-US" sz="93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9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inclusive language in all communications — written, verbal, and digital.</a:t>
            </a:r>
            <a:endParaRPr lang="en-US" sz="93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9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impact of unconscious bias and how to counter it.</a:t>
            </a:r>
            <a:endParaRPr lang="en-US" sz="93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9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colleagues from marginalised groups, including people with disabilities.</a:t>
            </a:r>
            <a:endParaRPr lang="en-US" sz="93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9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Employment Equity Act (EEA) requirements and your organisation's diversity policy.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279392" y="1600200"/>
            <a:ext cx="3657600" cy="50292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416552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2.2.2 PRIORITISING WORK – TIME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57600" cy="438912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443984" y="2286000"/>
            <a:ext cx="33284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time management is critical in modern workplaces where digital interruptions (emails, notifications, messages) compete with core tasks.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657600" cy="50292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238744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2.2.3 FILING SYSTEMS IN THE DIGITAL 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657600" cy="438912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8266176" y="2240280"/>
            <a:ext cx="3328416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 filing: by name, surname, or organisation.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filing: using reference numbers — invoices, contracts, case files.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filing: by date — meeting records, correspondence.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filing: by topic — project files, departmental records.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version control (e.g., Proposal_v2.docx).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access permissions (POPI Act compliance).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files automatically to cloud storage and a secondary location.</a:t>
            </a:r>
            <a:endParaRPr lang="en-US" sz="880" dirty="0"/>
          </a:p>
          <a:p>
            <a:pPr marL="342900" indent="-342900">
              <a:lnSpc>
                <a:spcPct val="108000"/>
              </a:lnSpc>
              <a:spcAft>
                <a:spcPts val="450"/>
              </a:spcAft>
              <a:buSzPct val="100000"/>
              <a:buChar char="●"/>
            </a:pPr>
            <a:r>
              <a:rPr lang="en-US" sz="8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outdated files per your organisation's retention policy.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7796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a Secure Working Environment – Learning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29184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security procedures, including cybersecurity protocols.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0832" y="2286000"/>
            <a:ext cx="3566160" cy="329184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99432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99432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customer, staff and storage areas.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93024" y="2286000"/>
            <a:ext cx="3566160" cy="329184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421624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21624" y="3337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emergency response procedures.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 to Maintain a Secure Working Environment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2E31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PROCEDURES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44805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51206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systems must be regularly checked, positioned correctly, and have footage retained for the required period.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systems (keypads, access cards, biometrics) must be tested regularly and access rights reviewed when staff leave.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fire exits must remain closed, clearly marked, unobstructed, and tested during regular fire drills.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systems must be serviced by a registered security company at least annually.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signage must be clearly displayed at all entry points and restricted areas.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registers must be maintained and reviewed regularly.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solidFill>
            <a:srgbClr val="7C85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PROCEDURES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480560"/>
          </a:xfrm>
          <a:prstGeom prst="rect">
            <a:avLst/>
          </a:prstGeom>
          <a:solidFill>
            <a:srgbClr val="F4F4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400800" y="2176272"/>
            <a:ext cx="51206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must use strong, unique passwords and multi-factor authentication (MFA) on all business systems.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operating systems must be kept updated with the latest security patches.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and personal devices must not be connected to business systems without IT approval.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must be reported to IT and not clicked on.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Incident Response Plan must exist for data breaches, ransomware attacks, and system compromises.</a:t>
            </a:r>
            <a:endParaRPr lang="en-US" sz="98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●"/>
            </a:pPr>
            <a:r>
              <a:rPr lang="en-US" sz="98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 must complete annual cybersecurity awareness training.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Maintaining Security for Staff and Customers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 INCLUDE: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6309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allow unauthorised persons into staff work areas or restricted zones.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challenge unfamiliar individuals in restricted areas politely but firmly.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 or stolen access cards, keys, or devices immediately to your supervisor and IT/security department.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storage areas and filing cabinets containing confidential information are locked at all times.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leave computer screens unattended with sensitive information visible — use screen locks.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50"/>
              </a:spcAft>
              <a:buSzPct val="100000"/>
              <a:buChar char="●"/>
            </a:pPr>
            <a:r>
              <a:rPr lang="en-US" sz="103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clear desk policy — do not leave confidential documents on your desk when away from your workstation.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736592" cy="4846320"/>
          </a:xfrm>
          <a:prstGeom prst="rect">
            <a:avLst/>
          </a:prstGeom>
          <a:solidFill>
            <a:srgbClr val="2E3140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50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NON-ADHERENCE TO SECURITY PROCEDURES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23317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and retention: 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breaches damage customer confidence and result in lost business.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223760" y="32918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loss: 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Theft, fraud, and data breaches cost SA businesses billions annually.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223760" y="4251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liability: 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 Act violations can result in fines of up to R10 million or 10 years imprisonment for responsible parties.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223760" y="52120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D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morale and retention:  </a:t>
            </a: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feel unsafe are less productive and more likely to leave.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3.1.3 – 3.1.5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Responding to Violent Situations, Threats, and Suspicious Items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maintaining control during violent or threatening situations: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777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85800" y="229514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2425903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remain calm — breathe slowly and steadily to maintain composure.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3044952"/>
            <a:ext cx="11274552" cy="777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85800" y="31912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" y="332201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04495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confront or escalate — cooperate within reason and prioritise personal safety.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3941064"/>
            <a:ext cx="11274552" cy="777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685800" y="4087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" y="421812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4106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colleagues and management as soon as it is safe to do so.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57200" y="4837176"/>
            <a:ext cx="11274552" cy="777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3"/>
          <p:cNvSpPr/>
          <p:nvPr/>
        </p:nvSpPr>
        <p:spPr>
          <a:xfrm>
            <a:off x="685800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511423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83717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10111 (SAPS Emergency) or 10177 (Ambulance) as appropriate.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57200" y="5733288"/>
            <a:ext cx="11274552" cy="777240"/>
          </a:xfrm>
          <a:prstGeom prst="rect">
            <a:avLst/>
          </a:prstGeom>
          <a:solidFill>
            <a:srgbClr val="F4F4F5"/>
          </a:solidFill>
          <a:ln/>
          <a:effectLst>
            <a:outerShdw blurRad="76200" dist="25400" dir="5400000" algn="bl" rotWithShape="0">
              <a:srgbClr val="1A1C24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16"/>
          <p:cNvSpPr/>
          <p:nvPr/>
        </p:nvSpPr>
        <p:spPr>
          <a:xfrm>
            <a:off x="685800" y="58795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" y="6010351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7332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all details of the incident as soon as possible after it has been resolved.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C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 – 3.2.4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3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Principles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REQUIREMENTS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 demarcated from staff-only zones. Monitored by CCTV. Signage indicating restricted areas. Staff should assist any customer appearing disoriented.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Work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to employees and authorised visitors. Access via swipe card, biometric, or keypad. Visitors must be signed in and escorted at all times.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Warehouse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at all times. Access limited to designated staff. Stock management system records all access and stock movement. Regular stocktakes conducted.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Rooms &amp; IT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level of physical access restriction. CCTV required. Access log maintained. Visitors must be accompanied by IT staff at all times.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Handling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restricted to authorised cashiers and management. Dual-control procedures for cash room access. CCTV coverage mandatory.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3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005840"/>
            <a:ext cx="1554480" cy="2377440"/>
          </a:xfrm>
          <a:prstGeom prst="triangle">
            <a:avLst/>
          </a:prstGeom>
          <a:solidFill>
            <a:srgbClr val="484B5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 rot="10800000">
            <a:off x="4297680" y="3383280"/>
            <a:ext cx="1554480" cy="2377440"/>
          </a:xfrm>
          <a:prstGeom prst="triangle">
            <a:avLst/>
          </a:prstGeom>
          <a:solidFill>
            <a:srgbClr val="9DA8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Batch 1  –  The Business Environment</a:t>
            </a:r>
            <a:endParaRPr lang="en-US" sz="1300" dirty="0"/>
          </a:p>
        </p:txBody>
      </p:sp>
      <p:pic>
        <p:nvPicPr>
          <p:cNvPr id="6" name="Image 0" descr="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5689405"/>
            <a:ext cx="1005840" cy="7113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C6E5318075D84C915CA949E8908300" ma:contentTypeVersion="11" ma:contentTypeDescription="Create a new document." ma:contentTypeScope="" ma:versionID="a86f3350d1f298401e47031ccd7c630c">
  <xsd:schema xmlns:xsd="http://www.w3.org/2001/XMLSchema" xmlns:xs="http://www.w3.org/2001/XMLSchema" xmlns:p="http://schemas.microsoft.com/office/2006/metadata/properties" xmlns:ns2="75616bff-01c3-4f31-943c-b43f10a382b5" xmlns:ns3="e50e3af6-46d4-4142-a165-f4afad90dcfb" targetNamespace="http://schemas.microsoft.com/office/2006/metadata/properties" ma:root="true" ma:fieldsID="bc043d4a4f3dfc6b741ffe1e8fa2b2f9" ns2:_="" ns3:_="">
    <xsd:import namespace="75616bff-01c3-4f31-943c-b43f10a382b5"/>
    <xsd:import namespace="e50e3af6-46d4-4142-a165-f4afad90dc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616bff-01c3-4f31-943c-b43f10a382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596430a-ee98-4b9f-b6a4-21c3846228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0e3af6-46d4-4142-a165-f4afad90dc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ecc5e24-1645-4bc6-a9dc-4dd19f35314e}" ma:internalName="TaxCatchAll" ma:showField="CatchAllData" ma:web="e50e3af6-46d4-4142-a165-f4afad90dc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616bff-01c3-4f31-943c-b43f10a382b5">
      <Terms xmlns="http://schemas.microsoft.com/office/infopath/2007/PartnerControls"/>
    </lcf76f155ced4ddcb4097134ff3c332f>
    <TaxCatchAll xmlns="e50e3af6-46d4-4142-a165-f4afad90dcfb" xsi:nil="true"/>
  </documentManagement>
</p:properties>
</file>

<file path=customXml/itemProps1.xml><?xml version="1.0" encoding="utf-8"?>
<ds:datastoreItem xmlns:ds="http://schemas.openxmlformats.org/officeDocument/2006/customXml" ds:itemID="{FE97455B-C3B4-4A7C-9938-D548BB8E13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A65BB9-8FB3-44F3-BCEF-ABEA599628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616bff-01c3-4f31-943c-b43f10a382b5"/>
    <ds:schemaRef ds:uri="e50e3af6-46d4-4142-a165-f4afad90dc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2A0E0F-02B2-4B94-95FD-12C49A9FA53C}">
  <ds:schemaRefs>
    <ds:schemaRef ds:uri="http://schemas.microsoft.com/office/infopath/2007/PartnerControls"/>
    <ds:schemaRef ds:uri="http://www.w3.org/XML/1998/namespace"/>
    <ds:schemaRef ds:uri="http://purl.org/dc/terms/"/>
    <ds:schemaRef ds:uri="75616bff-01c3-4f31-943c-b43f10a382b5"/>
    <ds:schemaRef ds:uri="http://purl.org/dc/dcmitype/"/>
    <ds:schemaRef ds:uri="e50e3af6-46d4-4142-a165-f4afad90dcfb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2432</Words>
  <Application>Microsoft Office PowerPoint</Application>
  <PresentationFormat>Widescreen</PresentationFormat>
  <Paragraphs>407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 Batch 1: The Business Environment</dc:title>
  <dc:subject>PptxGenJS Presentation</dc:subject>
  <dc:creator>AMPHI Human Capital Development</dc:creator>
  <cp:lastModifiedBy>Delouise  van der Westhuizen</cp:lastModifiedBy>
  <cp:revision>3</cp:revision>
  <dcterms:created xsi:type="dcterms:W3CDTF">2026-07-05T14:51:32Z</dcterms:created>
  <dcterms:modified xsi:type="dcterms:W3CDTF">2026-09-01T09:19:55Z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0x0101007EC6E5318075D84C915CA949E8908300</vt:lpwstr>
  </property>
  <property fmtid="{D5CDD505-2E9C-101B-9397-08002B2CF9AE}" pid="3" name="MediaServiceImageTags">
    <vt:lpwstr/>
  </property>
</Properties>
</file>